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8457"/>
          </a:solidFill>
          <a:ln>
            <a:solidFill>
              <a:srgbClr val="0B8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🌱 Green Jobs Brasil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A Infraestrutura de Dados para a Transição Verde no Brasil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FFFFFF"/>
                </a:solidFill>
              </a:defRPr>
            </a:pPr>
            <a:r>
              <a:t>Conectando pessoas, empresas e políticas públicas</a:t>
            </a:r>
          </a:p>
          <a:p>
            <a:r>
              <a:t>para acelerar a economia verde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BDCB5"/>
                </a:solidFill>
              </a:defRPr>
            </a:pPr>
            <a:r>
              <a:t>Apresentação COP30 - Novembro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0B8457"/>
                </a:solidFill>
              </a:defRPr>
            </a:pPr>
            <a:r>
              <a:t>🎯 O Desafio da Transição Verde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2000"/>
              </a:spcAft>
              <a:defRPr sz="2200" b="1">
                <a:solidFill>
                  <a:srgbClr val="F39C12"/>
                </a:solidFill>
              </a:defRPr>
            </a:pPr>
            <a:r>
              <a:t>O Brasil vai criar 7 milhões de empregos verdes até 2030 (Revista Exame)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❌  Não há taxonomia operacional de atividades verdes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📊  Dados dispersos e inacessíveis sobre empresas e vagas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🔍  Falta de transparência e risco de greenwashing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🚧  Desconexão entre mercado, educação e políticas públicas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0B8457"/>
                </a:solidFill>
              </a:defRPr>
            </a:pPr>
            <a:r>
              <a:t>✨ Nossa Solução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2000"/>
              </a:spcAft>
              <a:defRPr sz="2400" b="1">
                <a:solidFill>
                  <a:srgbClr val="0B8457"/>
                </a:solidFill>
              </a:defRPr>
            </a:pPr>
            <a:r>
              <a:t>Não somos 'só um site de emprego'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🧬 Taxonomia CNAE → ODS (versionada e auditável)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📊 Base de dados viva (empresas + vagas + profissionais)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🔌 API aberta para o ecossistema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📈 Dashboards e inteligência para decisões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🌳 Foco em bioeconomia e Amazônia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0B8457"/>
                </a:solidFill>
              </a:defRPr>
            </a:pPr>
            <a:r>
              <a:t>⚙️ Como Funciona?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502920" y="2286000"/>
            <a:ext cx="1828800" cy="1097280"/>
          </a:xfrm>
          <a:prstGeom prst="rect">
            <a:avLst/>
          </a:prstGeom>
          <a:solidFill>
            <a:srgbClr val="18A574"/>
          </a:solidFill>
          <a:ln>
            <a:solidFill>
              <a:srgbClr val="0B8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1. Taxonomia</a:t>
            </a:r>
            <a:br/>
            <a:r>
              <a:t>Verde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CNAE → 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269748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0B8457"/>
                </a:solidFill>
              </a:defRPr>
            </a:pPr>
            <a:r>
              <a:t>→</a:t>
            </a:r>
          </a:p>
        </p:txBody>
      </p:sp>
      <p:sp>
        <p:nvSpPr>
          <p:cNvPr id="6" name="Rectangle 5"/>
          <p:cNvSpPr/>
          <p:nvPr/>
        </p:nvSpPr>
        <p:spPr>
          <a:xfrm>
            <a:off x="2606040" y="2286000"/>
            <a:ext cx="1828800" cy="1097280"/>
          </a:xfrm>
          <a:prstGeom prst="rect">
            <a:avLst/>
          </a:prstGeom>
          <a:solidFill>
            <a:srgbClr val="18A574"/>
          </a:solidFill>
          <a:ln>
            <a:solidFill>
              <a:srgbClr val="0B8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2. Base de</a:t>
            </a:r>
            <a:br/>
            <a:r>
              <a:t>Dados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Empresas + Vagas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4840" y="269748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0B8457"/>
                </a:solidFill>
              </a:defRPr>
            </a:pPr>
            <a: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60" y="2286000"/>
            <a:ext cx="1828800" cy="1097280"/>
          </a:xfrm>
          <a:prstGeom prst="rect">
            <a:avLst/>
          </a:prstGeom>
          <a:solidFill>
            <a:srgbClr val="18A574"/>
          </a:solidFill>
          <a:ln>
            <a:solidFill>
              <a:srgbClr val="0B8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3. API</a:t>
            </a:r>
            <a:br/>
            <a:r>
              <a:t>Aberta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Integrações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69748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0B8457"/>
                </a:solidFill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12280" y="2286000"/>
            <a:ext cx="1828800" cy="1097280"/>
          </a:xfrm>
          <a:prstGeom prst="rect">
            <a:avLst/>
          </a:prstGeom>
          <a:solidFill>
            <a:srgbClr val="18A574"/>
          </a:solidFill>
          <a:ln>
            <a:solidFill>
              <a:srgbClr val="0B8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4. Dashboards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Decisões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Classificamos CNAEs (atividades econômicas) em Core/Adjacent/Secondary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Mapeamos cada CNAE para ODS específicos (rastreável e versionado)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Integramos com Receita Federal para dados reais de empresas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API permite integração com SINE, educação, CRMs corporativos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0B8457"/>
                </a:solidFill>
              </a:defRPr>
            </a:pPr>
            <a:r>
              <a:t>🏆 Por Que Somos Únicos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3200400" cy="2286000"/>
          </a:xfrm>
          <a:prstGeom prst="rect">
            <a:avLst/>
          </a:prstGeom>
          <a:solidFill>
            <a:srgbClr val="E8F8F5"/>
          </a:solidFill>
          <a:ln w="25400">
            <a:solidFill>
              <a:srgbClr val="0B8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65960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B8457"/>
                </a:solidFill>
              </a:defRPr>
            </a:pPr>
            <a:r>
              <a:t>🇧🇷 Solução Brasileira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468880"/>
            <a:ext cx="26517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Baseado em CNAE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Integração Receita Federal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Foco Amazônia/Bioeconomia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Alinhado com NDC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828800"/>
            <a:ext cx="3200400" cy="2286000"/>
          </a:xfrm>
          <a:prstGeom prst="rect">
            <a:avLst/>
          </a:prstGeom>
          <a:solidFill>
            <a:srgbClr val="E8F8F5"/>
          </a:solidFill>
          <a:ln w="25400">
            <a:solidFill>
              <a:srgbClr val="0B8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965960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B8457"/>
                </a:solidFill>
              </a:defRPr>
            </a:pPr>
            <a:r>
              <a:t>🔗 API-First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468880"/>
            <a:ext cx="26517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Não é um silo fechado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Integra SINE, educação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Dados abertos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Interoperável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480560"/>
            <a:ext cx="3200400" cy="2286000"/>
          </a:xfrm>
          <a:prstGeom prst="rect">
            <a:avLst/>
          </a:prstGeom>
          <a:solidFill>
            <a:srgbClr val="E8F8F5"/>
          </a:solidFill>
          <a:ln w="25400">
            <a:solidFill>
              <a:srgbClr val="0B8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617720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B8457"/>
                </a:solidFill>
              </a:defRPr>
            </a:pPr>
            <a:r>
              <a:t>🛡️ Anti-Greenwashing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120640"/>
            <a:ext cx="26517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Critérios auditáveis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Scoring transparente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Rastreabilidade CNAE→ODS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Versionamento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4480560"/>
            <a:ext cx="3200400" cy="2286000"/>
          </a:xfrm>
          <a:prstGeom prst="rect">
            <a:avLst/>
          </a:prstGeom>
          <a:solidFill>
            <a:srgbClr val="E8F8F5"/>
          </a:solidFill>
          <a:ln w="25400">
            <a:solidFill>
              <a:srgbClr val="0B8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4617720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B8457"/>
                </a:solidFill>
              </a:defRPr>
            </a:pPr>
            <a:r>
              <a:t>🌳 Bioeconomia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5120640"/>
            <a:ext cx="26517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Povos tradicionais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Sociobiodiversidade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Territorialização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Energia descentralizada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0B8457"/>
                </a:solidFill>
              </a:defRPr>
            </a:pPr>
            <a:r>
              <a:t>🎯 Catalisador para os 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3E50"/>
                </a:solidFill>
              </a:defRPr>
            </a:pPr>
            <a:r>
              <a:t>Impactamos diretamente 12 dos 17 ODS:</a:t>
            </a:r>
          </a:p>
        </p:txBody>
      </p:sp>
      <p:sp>
        <p:nvSpPr>
          <p:cNvPr id="5" name="Rectangle 4"/>
          <p:cNvSpPr/>
          <p:nvPr/>
        </p:nvSpPr>
        <p:spPr>
          <a:xfrm>
            <a:off x="937260" y="2560320"/>
            <a:ext cx="1097280" cy="1097280"/>
          </a:xfrm>
          <a:prstGeom prst="rect">
            <a:avLst/>
          </a:prstGeom>
          <a:solidFill>
            <a:srgbClr val="0B8457"/>
          </a:solidFill>
          <a:ln>
            <a:solidFill>
              <a:srgbClr val="0B8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ODS 4</a:t>
            </a:r>
            <a:br/>
            <a:r>
              <a:t>Educação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2171700" y="2560320"/>
            <a:ext cx="1097280" cy="1097280"/>
          </a:xfrm>
          <a:prstGeom prst="rect">
            <a:avLst/>
          </a:prstGeom>
          <a:solidFill>
            <a:srgbClr val="0B8457"/>
          </a:solidFill>
          <a:ln>
            <a:solidFill>
              <a:srgbClr val="0B8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ODS 5</a:t>
            </a:r>
            <a:br/>
            <a:r>
              <a:t>Igualdade</a:t>
            </a:r>
          </a:p>
        </p:txBody>
      </p:sp>
      <p:sp>
        <p:nvSpPr>
          <p:cNvPr id="7" name="Rectangle 6"/>
          <p:cNvSpPr/>
          <p:nvPr/>
        </p:nvSpPr>
        <p:spPr>
          <a:xfrm>
            <a:off x="3406140" y="2560320"/>
            <a:ext cx="1097280" cy="1097280"/>
          </a:xfrm>
          <a:prstGeom prst="rect">
            <a:avLst/>
          </a:prstGeom>
          <a:solidFill>
            <a:srgbClr val="0B8457"/>
          </a:solidFill>
          <a:ln>
            <a:solidFill>
              <a:srgbClr val="0B8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ODS 6</a:t>
            </a:r>
            <a:br/>
            <a:r>
              <a:t>Água</a:t>
            </a:r>
          </a:p>
        </p:txBody>
      </p:sp>
      <p:sp>
        <p:nvSpPr>
          <p:cNvPr id="8" name="Rectangle 7"/>
          <p:cNvSpPr/>
          <p:nvPr/>
        </p:nvSpPr>
        <p:spPr>
          <a:xfrm>
            <a:off x="4640580" y="2560320"/>
            <a:ext cx="1097280" cy="1097280"/>
          </a:xfrm>
          <a:prstGeom prst="rect">
            <a:avLst/>
          </a:prstGeom>
          <a:solidFill>
            <a:srgbClr val="0B8457"/>
          </a:solidFill>
          <a:ln>
            <a:solidFill>
              <a:srgbClr val="0B8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ODS 7</a:t>
            </a:r>
            <a:br/>
            <a:r>
              <a:t>Energia</a:t>
            </a:r>
          </a:p>
        </p:txBody>
      </p:sp>
      <p:sp>
        <p:nvSpPr>
          <p:cNvPr id="9" name="Rectangle 8"/>
          <p:cNvSpPr/>
          <p:nvPr/>
        </p:nvSpPr>
        <p:spPr>
          <a:xfrm>
            <a:off x="5875020" y="2560320"/>
            <a:ext cx="1097280" cy="1097280"/>
          </a:xfrm>
          <a:prstGeom prst="rect">
            <a:avLst/>
          </a:prstGeom>
          <a:solidFill>
            <a:srgbClr val="0B8457"/>
          </a:solidFill>
          <a:ln>
            <a:solidFill>
              <a:srgbClr val="0B8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ODS 8</a:t>
            </a:r>
            <a:br/>
            <a:r>
              <a:t>Trabalho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09460" y="2560320"/>
            <a:ext cx="1097280" cy="1097280"/>
          </a:xfrm>
          <a:prstGeom prst="rect">
            <a:avLst/>
          </a:prstGeom>
          <a:solidFill>
            <a:srgbClr val="0B8457"/>
          </a:solidFill>
          <a:ln>
            <a:solidFill>
              <a:srgbClr val="0B8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ODS 9</a:t>
            </a:r>
            <a:br/>
            <a:r>
              <a:t>Inovação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7260" y="3794760"/>
            <a:ext cx="1097280" cy="1097280"/>
          </a:xfrm>
          <a:prstGeom prst="rect">
            <a:avLst/>
          </a:prstGeom>
          <a:solidFill>
            <a:srgbClr val="0B8457"/>
          </a:solidFill>
          <a:ln>
            <a:solidFill>
              <a:srgbClr val="0B8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ODS 10</a:t>
            </a:r>
            <a:br/>
            <a:r>
              <a:t>Redução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71700" y="3794760"/>
            <a:ext cx="1097280" cy="1097280"/>
          </a:xfrm>
          <a:prstGeom prst="rect">
            <a:avLst/>
          </a:prstGeom>
          <a:solidFill>
            <a:srgbClr val="0B8457"/>
          </a:solidFill>
          <a:ln>
            <a:solidFill>
              <a:srgbClr val="0B8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ODS 11</a:t>
            </a:r>
            <a:br/>
            <a:r>
              <a:t>Cidades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6140" y="3794760"/>
            <a:ext cx="1097280" cy="1097280"/>
          </a:xfrm>
          <a:prstGeom prst="rect">
            <a:avLst/>
          </a:prstGeom>
          <a:solidFill>
            <a:srgbClr val="0B8457"/>
          </a:solidFill>
          <a:ln>
            <a:solidFill>
              <a:srgbClr val="0B8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ODS 12</a:t>
            </a:r>
            <a:br/>
            <a:r>
              <a:t>Consumo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40580" y="3794760"/>
            <a:ext cx="1097280" cy="1097280"/>
          </a:xfrm>
          <a:prstGeom prst="rect">
            <a:avLst/>
          </a:prstGeom>
          <a:solidFill>
            <a:srgbClr val="0B8457"/>
          </a:solidFill>
          <a:ln>
            <a:solidFill>
              <a:srgbClr val="0B8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ODS 13</a:t>
            </a:r>
            <a:br/>
            <a:r>
              <a:t>Clima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75020" y="3794760"/>
            <a:ext cx="1097280" cy="1097280"/>
          </a:xfrm>
          <a:prstGeom prst="rect">
            <a:avLst/>
          </a:prstGeom>
          <a:solidFill>
            <a:srgbClr val="0B8457"/>
          </a:solidFill>
          <a:ln>
            <a:solidFill>
              <a:srgbClr val="0B8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ODS 15</a:t>
            </a:r>
            <a:br/>
            <a:r>
              <a:t>Vida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09460" y="3794760"/>
            <a:ext cx="1097280" cy="1097280"/>
          </a:xfrm>
          <a:prstGeom prst="rect">
            <a:avLst/>
          </a:prstGeom>
          <a:solidFill>
            <a:srgbClr val="0B8457"/>
          </a:solidFill>
          <a:ln>
            <a:solidFill>
              <a:srgbClr val="0B8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ODS 17</a:t>
            </a:r>
            <a:br/>
            <a:r>
              <a:t>Parcerias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9460" y="4846320"/>
            <a:ext cx="73152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B8457"/>
                </a:solidFill>
              </a:defRPr>
            </a:pPr>
            <a:r>
              <a:t>Como Aceleramos as Metas: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📍 Visibilidade territorial para direcionar recursos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🎓 Requalificação guiada por demandas reais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💼 Matching eficiente reduz desemprego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📊 Evidências para políticas públicas e incentivos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0B8457"/>
                </a:solidFill>
              </a:defRPr>
            </a:pPr>
            <a:r>
              <a:t>💼 Casos de Uso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3840480" cy="2103120"/>
          </a:xfrm>
          <a:prstGeom prst="rect">
            <a:avLst/>
          </a:prstGeom>
          <a:solidFill>
            <a:srgbClr val="F5F7FA"/>
          </a:solidFill>
          <a:ln w="25400">
            <a:solidFill>
              <a:srgbClr val="18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B8457"/>
                </a:solidFill>
              </a:defRPr>
            </a:pPr>
            <a:r>
              <a:t>🏛️ Governos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31720"/>
            <a:ext cx="338328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</a:defRPr>
            </a:pPr>
            <a:r>
              <a:t>• Mapeamento territorial de empregos verdes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</a:defRPr>
            </a:pPr>
            <a:r>
              <a:t>• Identificação de gaps de habilidades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</a:defRPr>
            </a:pPr>
            <a:r>
              <a:t>• Incentivos direcionados (ex: score &gt; 70)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</a:defRPr>
            </a:pPr>
            <a:r>
              <a:t>• Dashboards públicos de accountability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1828800"/>
            <a:ext cx="3840480" cy="2103120"/>
          </a:xfrm>
          <a:prstGeom prst="rect">
            <a:avLst/>
          </a:prstGeom>
          <a:solidFill>
            <a:srgbClr val="F5F7FA"/>
          </a:solidFill>
          <a:ln w="25400">
            <a:solidFill>
              <a:srgbClr val="18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92024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B8457"/>
                </a:solidFill>
              </a:defRPr>
            </a:pPr>
            <a:r>
              <a:t>🏢 Empresas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4920" y="2331720"/>
            <a:ext cx="338328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</a:defRPr>
            </a:pPr>
            <a:r>
              <a:t>• Divulgação de vagas verdes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</a:defRPr>
            </a:pPr>
            <a:r>
              <a:t>• Evidências ESG verificáveis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</a:defRPr>
            </a:pPr>
            <a:r>
              <a:t>• Acesso a incentivos governamentais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</a:defRPr>
            </a:pPr>
            <a:r>
              <a:t>• Marca empregadora sustentável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206240"/>
            <a:ext cx="3840480" cy="2103120"/>
          </a:xfrm>
          <a:prstGeom prst="rect">
            <a:avLst/>
          </a:prstGeom>
          <a:solidFill>
            <a:srgbClr val="F5F7FA"/>
          </a:solidFill>
          <a:ln w="25400">
            <a:solidFill>
              <a:srgbClr val="18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9768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B8457"/>
                </a:solidFill>
              </a:defRPr>
            </a:pPr>
            <a:r>
              <a:t>👤 Profissionais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709160"/>
            <a:ext cx="338328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</a:defRPr>
            </a:pPr>
            <a:r>
              <a:t>• Trilhas de carreira verde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</a:defRPr>
            </a:pPr>
            <a:r>
              <a:t>• Matching inteligente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</a:defRPr>
            </a:pPr>
            <a:r>
              <a:t>• Capacitação direcionada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</a:defRPr>
            </a:pPr>
            <a:r>
              <a:t>• Visibilidade para recrutadores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206240"/>
            <a:ext cx="3840480" cy="2103120"/>
          </a:xfrm>
          <a:prstGeom prst="rect">
            <a:avLst/>
          </a:prstGeom>
          <a:solidFill>
            <a:srgbClr val="F5F7FA"/>
          </a:solidFill>
          <a:ln w="25400">
            <a:solidFill>
              <a:srgbClr val="18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429768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B8457"/>
                </a:solidFill>
              </a:defRPr>
            </a:pPr>
            <a:r>
              <a:t>💰 Investidores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4709160"/>
            <a:ext cx="338328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</a:defRPr>
            </a:pPr>
            <a:r>
              <a:t>• Pipeline verificável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</a:defRPr>
            </a:pPr>
            <a:r>
              <a:t>• Métricas de impacto ODS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</a:defRPr>
            </a:pPr>
            <a:r>
              <a:t>• Due diligence facilitada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</a:defRPr>
            </a:pPr>
            <a:r>
              <a:t>• Co-benefícios rastreáveis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0B8457"/>
                </a:solidFill>
              </a:defRPr>
            </a:pPr>
            <a:r>
              <a:t>🗺️ Roadmap 2025-2027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solidFill>
            <a:srgbClr val="7BDCB5"/>
          </a:solidFill>
          <a:ln w="25400">
            <a:solidFill>
              <a:srgbClr val="0B8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2025 - Fundação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120+ CNAEs verdes classificados  •  Pilotos em 2-3 estados + 5 municípios  •  Integração SINE e educação  •  API pública documentada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429000"/>
            <a:ext cx="8229600" cy="1371600"/>
          </a:xfrm>
          <a:prstGeom prst="rect">
            <a:avLst/>
          </a:prstGeom>
          <a:solidFill>
            <a:srgbClr val="18A574"/>
          </a:solidFill>
          <a:ln w="25400">
            <a:solidFill>
              <a:srgbClr val="0B8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5661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2026 - Escala Setorial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77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Expansão: saneamento, energia, construção  •  Agro baixo carbono, resíduos, bioeconomia  •  500k+ empresas com score verde  •  Parcerias governos estaduais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solidFill>
            <a:srgbClr val="0B8457"/>
          </a:solidFill>
          <a:ln w="25400">
            <a:solidFill>
              <a:srgbClr val="0B8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2027 - Infraestrutura Nacional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5778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Interoperabilidade sistemas nacionais  •  Dashboards públicos ODS × empregos  •  Modelo de negócio sustentável  •  Referência para políticas climáticas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0B8457"/>
                </a:solidFill>
              </a:defRPr>
            </a:pPr>
            <a:r>
              <a:t>📈 Potencial de Impacto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502920" y="2286000"/>
            <a:ext cx="1828800" cy="1828800"/>
          </a:xfrm>
          <a:prstGeom prst="rect">
            <a:avLst/>
          </a:prstGeom>
          <a:gradFill rotWithShape="1">
            <a:gsLst>
              <a:gs pos="0">
                <a:srgbClr val="0B8457"/>
              </a:gs>
              <a:gs pos="100000">
                <a:srgbClr val="0D5C40"/>
              </a:gs>
            </a:gsLst>
            <a:lin scaled="0" ang="18900000"/>
          </a:gradFill>
          <a:ln>
            <a:solidFill>
              <a:srgbClr val="0B8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651760"/>
            <a:ext cx="18288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120+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91840"/>
            <a:ext cx="182880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CNAEs Verdes</a:t>
            </a:r>
            <a:br/>
            <a:r>
              <a:t>Classificados</a:t>
            </a:r>
          </a:p>
        </p:txBody>
      </p:sp>
      <p:sp>
        <p:nvSpPr>
          <p:cNvPr id="7" name="Rectangle 6"/>
          <p:cNvSpPr/>
          <p:nvPr/>
        </p:nvSpPr>
        <p:spPr>
          <a:xfrm>
            <a:off x="2606040" y="2286000"/>
            <a:ext cx="1828800" cy="1828800"/>
          </a:xfrm>
          <a:prstGeom prst="rect">
            <a:avLst/>
          </a:prstGeom>
          <a:gradFill rotWithShape="1">
            <a:gsLst>
              <a:gs pos="0">
                <a:srgbClr val="0B8457"/>
              </a:gs>
              <a:gs pos="100000">
                <a:srgbClr val="0D5C40"/>
              </a:gs>
            </a:gsLst>
            <a:lin scaled="0" ang="18900000"/>
          </a:gradFill>
          <a:ln>
            <a:solidFill>
              <a:srgbClr val="0B8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06040" y="2651760"/>
            <a:ext cx="18288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500k+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3291840"/>
            <a:ext cx="182880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Empresas Mapeadas</a:t>
            </a:r>
            <a:br/>
            <a:r>
              <a:t>(meta 2026)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2286000"/>
            <a:ext cx="1828800" cy="1828800"/>
          </a:xfrm>
          <a:prstGeom prst="rect">
            <a:avLst/>
          </a:prstGeom>
          <a:gradFill rotWithShape="1">
            <a:gsLst>
              <a:gs pos="0">
                <a:srgbClr val="0B8457"/>
              </a:gs>
              <a:gs pos="100000">
                <a:srgbClr val="0D5C40"/>
              </a:gs>
            </a:gsLst>
            <a:lin scaled="0" ang="18900000"/>
          </a:gradFill>
          <a:ln>
            <a:solidFill>
              <a:srgbClr val="0B8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2651760"/>
            <a:ext cx="18288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7M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3291840"/>
            <a:ext cx="182880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Empregos Verdes</a:t>
            </a:r>
            <a:br/>
            <a:r>
              <a:t>Brasil até 2030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12280" y="2286000"/>
            <a:ext cx="1828800" cy="1828800"/>
          </a:xfrm>
          <a:prstGeom prst="rect">
            <a:avLst/>
          </a:prstGeom>
          <a:gradFill rotWithShape="1">
            <a:gsLst>
              <a:gs pos="0">
                <a:srgbClr val="0B8457"/>
              </a:gs>
              <a:gs pos="100000">
                <a:srgbClr val="0D5C40"/>
              </a:gs>
            </a:gsLst>
            <a:lin scaled="0" ang="18900000"/>
          </a:gradFill>
          <a:ln>
            <a:solidFill>
              <a:srgbClr val="0B8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80" y="2651760"/>
            <a:ext cx="18288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3291840"/>
            <a:ext cx="182880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ODS</a:t>
            </a:r>
            <a:br/>
            <a:r>
              <a:t>Impactados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75488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B8457"/>
                </a:solidFill>
              </a:defRPr>
            </a:pPr>
            <a:r>
              <a:t>Operacionalizamos os ODS ao transformar metas abstratas em:</a:t>
            </a:r>
          </a:p>
          <a:p>
            <a:pPr>
              <a:spcAft>
                <a:spcPts val="500"/>
              </a:spcAft>
              <a:defRPr sz="1500">
                <a:solidFill>
                  <a:srgbClr val="2C3E50"/>
                </a:solidFill>
              </a:defRPr>
            </a:pPr>
            <a:r>
              <a:t>✓ Dados concretos</a:t>
            </a:r>
          </a:p>
          <a:p>
            <a:pPr>
              <a:spcAft>
                <a:spcPts val="500"/>
              </a:spcAft>
              <a:defRPr sz="1500">
                <a:solidFill>
                  <a:srgbClr val="2C3E50"/>
                </a:solidFill>
              </a:defRPr>
            </a:pPr>
            <a:r>
              <a:t>✓ Trilhas práticas</a:t>
            </a:r>
          </a:p>
          <a:p>
            <a:pPr>
              <a:spcAft>
                <a:spcPts val="500"/>
              </a:spcAft>
              <a:defRPr sz="1500">
                <a:solidFill>
                  <a:srgbClr val="2C3E50"/>
                </a:solidFill>
              </a:defRPr>
            </a:pPr>
            <a:r>
              <a:t>✓ Integrações sistêmicas</a:t>
            </a:r>
          </a:p>
          <a:p>
            <a:pPr>
              <a:spcAft>
                <a:spcPts val="500"/>
              </a:spcAft>
              <a:defRPr sz="1500">
                <a:solidFill>
                  <a:srgbClr val="2C3E50"/>
                </a:solidFill>
              </a:defRPr>
            </a:pPr>
            <a:r>
              <a:t>✓ Dashboards acionáveis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0B8457"/>
                </a:solidFill>
              </a:defRPr>
            </a:pPr>
            <a:r>
              <a:t>🌍 O Que Buscamos na COP30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3840480" cy="1371600"/>
          </a:xfrm>
          <a:prstGeom prst="rect">
            <a:avLst/>
          </a:prstGeom>
          <a:solidFill>
            <a:srgbClr val="FFF3CD"/>
          </a:solidFill>
          <a:ln w="381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9C12"/>
                </a:solidFill>
              </a:defRPr>
            </a:pPr>
            <a:r>
              <a:t>🤝 Parcerias Institucionais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88920"/>
            <a:ext cx="3474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</a:defRPr>
            </a:pPr>
            <a:r>
              <a:t>Governos, ministérios, organismos internacionais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2103120"/>
            <a:ext cx="3840480" cy="1371600"/>
          </a:xfrm>
          <a:prstGeom prst="rect">
            <a:avLst/>
          </a:prstGeom>
          <a:solidFill>
            <a:srgbClr val="FFF3CD"/>
          </a:solidFill>
          <a:ln w="381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22860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9C12"/>
                </a:solidFill>
              </a:defRPr>
            </a:pPr>
            <a:r>
              <a:t>📊 Parcerias de Dados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788920"/>
            <a:ext cx="3474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</a:defRPr>
            </a:pPr>
            <a:r>
              <a:t>Receita Federal, IBGE, SINE, plataformas educacionais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749040"/>
            <a:ext cx="3840480" cy="1371600"/>
          </a:xfrm>
          <a:prstGeom prst="rect">
            <a:avLst/>
          </a:prstGeom>
          <a:solidFill>
            <a:srgbClr val="FFF3CD"/>
          </a:solidFill>
          <a:ln w="381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9C12"/>
                </a:solidFill>
              </a:defRPr>
            </a:pPr>
            <a:r>
              <a:t>🧪 Sandbox Regulatório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34840"/>
            <a:ext cx="3474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</a:defRPr>
            </a:pPr>
            <a:r>
              <a:t>Pilotos com flexibilidade LGPD, trabalhista, educação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3749040"/>
            <a:ext cx="3840480" cy="1371600"/>
          </a:xfrm>
          <a:prstGeom prst="rect">
            <a:avLst/>
          </a:prstGeom>
          <a:solidFill>
            <a:srgbClr val="FFF3CD"/>
          </a:solidFill>
          <a:ln w="381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393192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9C12"/>
                </a:solidFill>
              </a:defRPr>
            </a:pPr>
            <a:r>
              <a:t>💰 Investimento/Grants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4434840"/>
            <a:ext cx="3474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</a:defRPr>
            </a:pPr>
            <a:r>
              <a:t>Taxonomia, integrações, trilhas de requalificação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303520"/>
            <a:ext cx="73152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0B8457"/>
                </a:solidFill>
              </a:defRPr>
            </a:pPr>
            <a:r>
              <a:t>Green Jobs Brasil é o elo perdido entre compromissos climáticos e ação concreta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8457"/>
          </a:solidFill>
          <a:ln>
            <a:solidFill>
              <a:srgbClr val="0B8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Vamos Conversar?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📧 bruno@greenjobsbrasil.com.br</a:t>
            </a:r>
          </a:p>
          <a:p>
            <a:pPr algn="ctr"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📧 contato@greenjobsbrasil.com.br</a:t>
            </a:r>
          </a:p>
          <a:p>
            <a:pPr algn="ctr"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</a:p>
          <a:p>
            <a:pPr algn="ctr"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💬 WhatsApp: +55 (32) 99817-3407</a:t>
            </a:r>
          </a:p>
          <a:p>
            <a:pPr algn="ctr"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</a:p>
          <a:p>
            <a:pPr algn="ctr"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🔗 LinkedIn: /company/green-jobs-brasil</a:t>
            </a:r>
          </a:p>
          <a:p>
            <a:pPr algn="ctr"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📷 Instagram: @greenjobsbrasil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BDCB5"/>
                </a:solidFill>
              </a:defRPr>
            </a:pPr>
            <a:r>
              <a:t>Green Jobs Brasil • COP30 • Novembro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